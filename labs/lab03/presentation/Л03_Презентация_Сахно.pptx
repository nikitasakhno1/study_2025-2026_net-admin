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9" r:id="rId11"/>
    <p:sldId id="273" r:id="rId12"/>
    <p:sldId id="274" r:id="rId13"/>
    <p:sldId id="272" r:id="rId1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894656"/>
            <a:ext cx="1888489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72960"/>
            <a:ext cx="2342515" cy="423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3608" y="643931"/>
            <a:ext cx="4937125" cy="2004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0786" y="2992643"/>
            <a:ext cx="241300" cy="14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29209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22373A"/>
                </a:solidFill>
              </a:rPr>
              <a:t>Лабораторная</a:t>
            </a:r>
            <a:r>
              <a:rPr sz="1200" spc="45" dirty="0">
                <a:solidFill>
                  <a:srgbClr val="22373A"/>
                </a:solidFill>
              </a:rPr>
              <a:t> </a:t>
            </a:r>
            <a:r>
              <a:rPr sz="1200" dirty="0">
                <a:solidFill>
                  <a:srgbClr val="22373A"/>
                </a:solidFill>
              </a:rPr>
              <a:t>работа</a:t>
            </a:r>
            <a:r>
              <a:rPr sz="1200" spc="50" dirty="0">
                <a:solidFill>
                  <a:srgbClr val="22373A"/>
                </a:solidFill>
              </a:rPr>
              <a:t> </a:t>
            </a:r>
            <a:r>
              <a:rPr sz="1200" spc="-25" dirty="0">
                <a:solidFill>
                  <a:srgbClr val="22373A"/>
                </a:solidFill>
              </a:rPr>
              <a:t>№3</a:t>
            </a:r>
            <a:endParaRPr sz="1200"/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850" dirty="0"/>
              <a:t>Сахно Никита Вячеславович</a:t>
            </a:r>
            <a:endParaRPr sz="850" dirty="0"/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50" dirty="0"/>
          </a:p>
          <a:p>
            <a:pPr marL="12700">
              <a:lnSpc>
                <a:spcPct val="100000"/>
              </a:lnSpc>
            </a:pPr>
            <a:r>
              <a:rPr sz="650" spc="10" dirty="0"/>
              <a:t>Российский</a:t>
            </a:r>
            <a:r>
              <a:rPr sz="650" spc="25" dirty="0"/>
              <a:t> </a:t>
            </a:r>
            <a:r>
              <a:rPr sz="650" spc="10" dirty="0"/>
              <a:t>университет</a:t>
            </a:r>
            <a:r>
              <a:rPr sz="650" spc="25" dirty="0"/>
              <a:t> </a:t>
            </a:r>
            <a:r>
              <a:rPr sz="650" spc="10" dirty="0"/>
              <a:t>дружбы</a:t>
            </a:r>
            <a:r>
              <a:rPr sz="650" spc="25" dirty="0"/>
              <a:t> </a:t>
            </a:r>
            <a:r>
              <a:rPr sz="650" spc="10" dirty="0"/>
              <a:t>народов,</a:t>
            </a:r>
            <a:r>
              <a:rPr sz="650" spc="25" dirty="0"/>
              <a:t> </a:t>
            </a:r>
            <a:r>
              <a:rPr sz="650" spc="10" dirty="0"/>
              <a:t>Москва,</a:t>
            </a:r>
            <a:r>
              <a:rPr sz="650" spc="25" dirty="0"/>
              <a:t> </a:t>
            </a:r>
            <a:r>
              <a:rPr sz="650" spc="-10" dirty="0"/>
              <a:t>Россия</a:t>
            </a:r>
            <a:endParaRPr sz="650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1199713"/>
            <a:ext cx="2692400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Планирование</a:t>
            </a:r>
            <a:r>
              <a:rPr sz="10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локальной</a:t>
            </a:r>
            <a:r>
              <a:rPr sz="10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10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организации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598580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  <a:ln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5241" y="2992643"/>
            <a:ext cx="207010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1</a:t>
            </a:fld>
            <a:r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/16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7937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0" dirty="0">
                <a:solidFill>
                  <a:srgbClr val="F9F9F9"/>
                </a:solidFill>
                <a:latin typeface="Microsoft Sans Serif"/>
                <a:cs typeface="Microsoft Sans Serif"/>
              </a:rPr>
              <a:t>Цель</a:t>
            </a:r>
            <a:r>
              <a:rPr sz="1000" spc="-3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1080135" cy="5080"/>
            </a:xfrm>
            <a:custGeom>
              <a:avLst/>
              <a:gdLst/>
              <a:ahLst/>
              <a:cxnLst/>
              <a:rect l="l" t="t" r="r" b="b"/>
              <a:pathLst>
                <a:path w="1080135" h="5079">
                  <a:moveTo>
                    <a:pt x="0" y="5060"/>
                  </a:moveTo>
                  <a:lnTo>
                    <a:pt x="0" y="0"/>
                  </a:lnTo>
                  <a:lnTo>
                    <a:pt x="1080013" y="0"/>
                  </a:lnTo>
                  <a:lnTo>
                    <a:pt x="10800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591153"/>
            <a:ext cx="415036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Познакомиться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принципами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планирования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локальной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организации.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77"/>
            <a:ext cx="5219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Задание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195" marR="5080" indent="-142240">
              <a:lnSpc>
                <a:spcPct val="144300"/>
              </a:lnSpc>
              <a:spcBef>
                <a:spcPts val="95"/>
              </a:spcBef>
              <a:buAutoNum type="arabicPeriod"/>
              <a:tabLst>
                <a:tab pos="163195" algn="l"/>
              </a:tabLst>
            </a:pPr>
            <a:r>
              <a:rPr dirty="0"/>
              <a:t>Используя</a:t>
            </a:r>
            <a:r>
              <a:rPr spc="50" dirty="0"/>
              <a:t> </a:t>
            </a:r>
            <a:r>
              <a:rPr dirty="0"/>
              <a:t>графический</a:t>
            </a:r>
            <a:r>
              <a:rPr spc="50" dirty="0"/>
              <a:t> </a:t>
            </a:r>
            <a:r>
              <a:rPr dirty="0"/>
              <a:t>редактор</a:t>
            </a:r>
            <a:r>
              <a:rPr spc="50" dirty="0"/>
              <a:t> </a:t>
            </a:r>
            <a:r>
              <a:rPr dirty="0"/>
              <a:t>(например,</a:t>
            </a:r>
            <a:r>
              <a:rPr spc="50" dirty="0"/>
              <a:t> </a:t>
            </a:r>
            <a:r>
              <a:rPr spc="-20" dirty="0"/>
              <a:t>Dia),</a:t>
            </a:r>
            <a:r>
              <a:rPr spc="50" dirty="0"/>
              <a:t> </a:t>
            </a:r>
            <a:r>
              <a:rPr dirty="0"/>
              <a:t>требуется</a:t>
            </a:r>
            <a:r>
              <a:rPr spc="50" dirty="0"/>
              <a:t> </a:t>
            </a:r>
            <a:r>
              <a:rPr dirty="0"/>
              <a:t>повторить</a:t>
            </a:r>
            <a:r>
              <a:rPr spc="55" dirty="0"/>
              <a:t> </a:t>
            </a:r>
            <a:r>
              <a:rPr dirty="0"/>
              <a:t>схемы</a:t>
            </a:r>
            <a:r>
              <a:rPr spc="50" dirty="0"/>
              <a:t> </a:t>
            </a:r>
            <a:r>
              <a:rPr spc="-114" dirty="0"/>
              <a:t>L1,</a:t>
            </a:r>
            <a:r>
              <a:rPr spc="50" dirty="0"/>
              <a:t> </a:t>
            </a:r>
            <a:r>
              <a:rPr spc="-55" dirty="0"/>
              <a:t>L2,</a:t>
            </a:r>
            <a:r>
              <a:rPr spc="50" dirty="0"/>
              <a:t> </a:t>
            </a:r>
            <a:r>
              <a:rPr spc="-25" dirty="0"/>
              <a:t>L3, </a:t>
            </a:r>
            <a:r>
              <a:rPr dirty="0"/>
              <a:t>а</a:t>
            </a:r>
            <a:r>
              <a:rPr spc="30" dirty="0"/>
              <a:t> </a:t>
            </a:r>
            <a:r>
              <a:rPr dirty="0"/>
              <a:t>также</a:t>
            </a:r>
            <a:r>
              <a:rPr spc="30" dirty="0"/>
              <a:t> </a:t>
            </a:r>
            <a:r>
              <a:rPr dirty="0"/>
              <a:t>сопутствующие</a:t>
            </a:r>
            <a:r>
              <a:rPr spc="35" dirty="0"/>
              <a:t> </a:t>
            </a:r>
            <a:r>
              <a:rPr dirty="0"/>
              <a:t>им</a:t>
            </a:r>
            <a:r>
              <a:rPr spc="30" dirty="0"/>
              <a:t> </a:t>
            </a:r>
            <a:r>
              <a:rPr dirty="0"/>
              <a:t>таблицы</a:t>
            </a:r>
            <a:r>
              <a:rPr spc="30" dirty="0"/>
              <a:t> </a:t>
            </a:r>
            <a:r>
              <a:rPr spc="-20" dirty="0"/>
              <a:t>VLAN,</a:t>
            </a:r>
            <a:r>
              <a:rPr spc="35" dirty="0"/>
              <a:t> </a:t>
            </a:r>
            <a:r>
              <a:rPr spc="-20" dirty="0"/>
              <a:t>IP-</a:t>
            </a:r>
            <a:r>
              <a:rPr dirty="0"/>
              <a:t>адресов</a:t>
            </a:r>
            <a:r>
              <a:rPr spc="30" dirty="0"/>
              <a:t> </a:t>
            </a:r>
            <a:r>
              <a:rPr dirty="0"/>
              <a:t>и</a:t>
            </a:r>
            <a:r>
              <a:rPr spc="30" dirty="0"/>
              <a:t> </a:t>
            </a:r>
            <a:r>
              <a:rPr dirty="0"/>
              <a:t>портов</a:t>
            </a:r>
            <a:r>
              <a:rPr spc="35" dirty="0"/>
              <a:t> </a:t>
            </a:r>
            <a:r>
              <a:rPr spc="-10" dirty="0"/>
              <a:t>подключения </a:t>
            </a:r>
            <a:r>
              <a:rPr spc="10" dirty="0"/>
              <a:t>оборудования</a:t>
            </a:r>
            <a:r>
              <a:rPr spc="120" dirty="0"/>
              <a:t> </a:t>
            </a:r>
            <a:r>
              <a:rPr spc="10" dirty="0"/>
              <a:t>планируемой</a:t>
            </a:r>
            <a:r>
              <a:rPr spc="120" dirty="0"/>
              <a:t> </a:t>
            </a:r>
            <a:r>
              <a:rPr spc="-10" dirty="0"/>
              <a:t>сети.</a:t>
            </a:r>
          </a:p>
          <a:p>
            <a:pPr marL="163195" marR="27305" indent="-150495">
              <a:lnSpc>
                <a:spcPct val="144300"/>
              </a:lnSpc>
              <a:spcBef>
                <a:spcPts val="775"/>
              </a:spcBef>
              <a:buAutoNum type="arabicPeriod"/>
              <a:tabLst>
                <a:tab pos="163195" algn="l"/>
              </a:tabLst>
            </a:pPr>
            <a:r>
              <a:rPr spc="10" dirty="0"/>
              <a:t>Рассмотренный</a:t>
            </a:r>
            <a:r>
              <a:rPr spc="55" dirty="0"/>
              <a:t> </a:t>
            </a:r>
            <a:r>
              <a:rPr spc="10" dirty="0"/>
              <a:t>выше</a:t>
            </a:r>
            <a:r>
              <a:rPr spc="60" dirty="0"/>
              <a:t> </a:t>
            </a:r>
            <a:r>
              <a:rPr spc="10" dirty="0"/>
              <a:t>пример</a:t>
            </a:r>
            <a:r>
              <a:rPr spc="60" dirty="0"/>
              <a:t> </a:t>
            </a:r>
            <a:r>
              <a:rPr spc="10" dirty="0"/>
              <a:t>планирования</a:t>
            </a:r>
            <a:r>
              <a:rPr spc="60" dirty="0"/>
              <a:t> </a:t>
            </a:r>
            <a:r>
              <a:rPr spc="10" dirty="0"/>
              <a:t>адресного</a:t>
            </a:r>
            <a:r>
              <a:rPr spc="60" dirty="0"/>
              <a:t> </a:t>
            </a:r>
            <a:r>
              <a:rPr spc="10" dirty="0"/>
              <a:t>пространства</a:t>
            </a:r>
            <a:r>
              <a:rPr spc="55" dirty="0"/>
              <a:t> </a:t>
            </a:r>
            <a:r>
              <a:rPr spc="10" dirty="0"/>
              <a:t>сети</a:t>
            </a:r>
            <a:r>
              <a:rPr spc="60" dirty="0"/>
              <a:t> </a:t>
            </a:r>
            <a:r>
              <a:rPr spc="-10" dirty="0"/>
              <a:t>базируется </a:t>
            </a:r>
            <a:r>
              <a:rPr dirty="0"/>
              <a:t>на</a:t>
            </a:r>
            <a:r>
              <a:rPr spc="20" dirty="0"/>
              <a:t> </a:t>
            </a:r>
            <a:r>
              <a:rPr dirty="0"/>
              <a:t>разбиении</a:t>
            </a:r>
            <a:r>
              <a:rPr spc="20" dirty="0"/>
              <a:t> </a:t>
            </a:r>
            <a:r>
              <a:rPr dirty="0"/>
              <a:t>сети</a:t>
            </a:r>
            <a:r>
              <a:rPr spc="25" dirty="0"/>
              <a:t> </a:t>
            </a:r>
            <a:r>
              <a:rPr spc="-50" dirty="0"/>
              <a:t>10.128.0.0/16</a:t>
            </a:r>
            <a:r>
              <a:rPr spc="20" dirty="0"/>
              <a:t> </a:t>
            </a:r>
            <a:r>
              <a:rPr dirty="0"/>
              <a:t>на</a:t>
            </a:r>
            <a:r>
              <a:rPr spc="25" dirty="0"/>
              <a:t> </a:t>
            </a:r>
            <a:r>
              <a:rPr dirty="0"/>
              <a:t>соответствующие</a:t>
            </a:r>
            <a:r>
              <a:rPr spc="20" dirty="0"/>
              <a:t> </a:t>
            </a:r>
            <a:r>
              <a:rPr dirty="0"/>
              <a:t>подсети.</a:t>
            </a:r>
            <a:r>
              <a:rPr spc="25" dirty="0"/>
              <a:t> </a:t>
            </a:r>
            <a:r>
              <a:rPr dirty="0"/>
              <a:t>Требуется</a:t>
            </a:r>
            <a:r>
              <a:rPr spc="20" dirty="0"/>
              <a:t> </a:t>
            </a:r>
            <a:r>
              <a:rPr spc="-10" dirty="0"/>
              <a:t>сделать </a:t>
            </a:r>
            <a:r>
              <a:rPr dirty="0"/>
              <a:t>аналогичный</a:t>
            </a:r>
            <a:r>
              <a:rPr spc="70" dirty="0"/>
              <a:t> </a:t>
            </a:r>
            <a:r>
              <a:rPr dirty="0"/>
              <a:t>план</a:t>
            </a:r>
            <a:r>
              <a:rPr spc="75" dirty="0"/>
              <a:t> </a:t>
            </a:r>
            <a:r>
              <a:rPr dirty="0"/>
              <a:t>адресного</a:t>
            </a:r>
            <a:r>
              <a:rPr spc="75" dirty="0"/>
              <a:t> </a:t>
            </a:r>
            <a:r>
              <a:rPr dirty="0"/>
              <a:t>пространства</a:t>
            </a:r>
            <a:r>
              <a:rPr spc="75" dirty="0"/>
              <a:t> </a:t>
            </a:r>
            <a:r>
              <a:rPr dirty="0"/>
              <a:t>для</a:t>
            </a:r>
            <a:r>
              <a:rPr spc="75" dirty="0"/>
              <a:t> </a:t>
            </a:r>
            <a:r>
              <a:rPr dirty="0"/>
              <a:t>сетей</a:t>
            </a:r>
            <a:r>
              <a:rPr spc="75" dirty="0"/>
              <a:t> </a:t>
            </a:r>
            <a:r>
              <a:rPr spc="-65" dirty="0"/>
              <a:t>172.16.0.0/12</a:t>
            </a:r>
            <a:r>
              <a:rPr spc="75" dirty="0"/>
              <a:t> </a:t>
            </a:r>
            <a:r>
              <a:rPr dirty="0"/>
              <a:t>и</a:t>
            </a:r>
            <a:r>
              <a:rPr spc="75" dirty="0"/>
              <a:t> </a:t>
            </a:r>
            <a:r>
              <a:rPr spc="-50" dirty="0"/>
              <a:t>192.168.0.0/16</a:t>
            </a:r>
            <a:r>
              <a:rPr spc="75" dirty="0"/>
              <a:t> </a:t>
            </a:r>
            <a:r>
              <a:rPr spc="-50" dirty="0"/>
              <a:t>с </a:t>
            </a:r>
            <a:r>
              <a:rPr dirty="0"/>
              <a:t>соответствующими</a:t>
            </a:r>
            <a:r>
              <a:rPr spc="60" dirty="0"/>
              <a:t> </a:t>
            </a:r>
            <a:r>
              <a:rPr dirty="0"/>
              <a:t>схемами</a:t>
            </a:r>
            <a:r>
              <a:rPr spc="65" dirty="0"/>
              <a:t> </a:t>
            </a:r>
            <a:r>
              <a:rPr dirty="0"/>
              <a:t>сети</a:t>
            </a:r>
            <a:r>
              <a:rPr spc="65" dirty="0"/>
              <a:t> </a:t>
            </a:r>
            <a:r>
              <a:rPr dirty="0"/>
              <a:t>и</a:t>
            </a:r>
            <a:r>
              <a:rPr spc="65" dirty="0"/>
              <a:t> </a:t>
            </a:r>
            <a:r>
              <a:rPr dirty="0"/>
              <a:t>сопутствующими</a:t>
            </a:r>
            <a:r>
              <a:rPr spc="65" dirty="0"/>
              <a:t> </a:t>
            </a:r>
            <a:r>
              <a:rPr dirty="0"/>
              <a:t>таблицами</a:t>
            </a:r>
            <a:r>
              <a:rPr spc="65" dirty="0"/>
              <a:t> </a:t>
            </a:r>
            <a:r>
              <a:rPr spc="-20" dirty="0"/>
              <a:t>VLAN,</a:t>
            </a:r>
            <a:r>
              <a:rPr spc="65" dirty="0"/>
              <a:t> </a:t>
            </a:r>
            <a:r>
              <a:rPr spc="-20" dirty="0"/>
              <a:t>IP-</a:t>
            </a:r>
            <a:r>
              <a:rPr dirty="0"/>
              <a:t>адресов</a:t>
            </a:r>
            <a:r>
              <a:rPr spc="65" dirty="0"/>
              <a:t> </a:t>
            </a:r>
            <a:r>
              <a:rPr spc="-50" dirty="0"/>
              <a:t>и </a:t>
            </a:r>
            <a:r>
              <a:rPr dirty="0"/>
              <a:t>портов</a:t>
            </a:r>
            <a:r>
              <a:rPr spc="135" dirty="0"/>
              <a:t> </a:t>
            </a:r>
            <a:r>
              <a:rPr dirty="0"/>
              <a:t>подключения</a:t>
            </a:r>
            <a:r>
              <a:rPr spc="140" dirty="0"/>
              <a:t> </a:t>
            </a:r>
            <a:r>
              <a:rPr spc="-10" dirty="0"/>
              <a:t>оборудования.</a:t>
            </a: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22373A"/>
              </a:buClr>
              <a:buFont typeface="Tahoma"/>
              <a:buAutoNum type="arabicPeriod"/>
            </a:pPr>
            <a:endParaRPr spc="-10" dirty="0"/>
          </a:p>
          <a:p>
            <a:pPr marL="164465" indent="-1517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4465" algn="l"/>
              </a:tabLst>
            </a:pPr>
            <a:r>
              <a:rPr spc="10" dirty="0"/>
              <a:t>При</a:t>
            </a:r>
            <a:r>
              <a:rPr spc="45" dirty="0"/>
              <a:t> </a:t>
            </a:r>
            <a:r>
              <a:rPr spc="10" dirty="0"/>
              <a:t>выполнении</a:t>
            </a:r>
            <a:r>
              <a:rPr spc="45" dirty="0"/>
              <a:t> </a:t>
            </a:r>
            <a:r>
              <a:rPr spc="10" dirty="0"/>
              <a:t>работы</a:t>
            </a:r>
            <a:r>
              <a:rPr spc="45" dirty="0"/>
              <a:t> </a:t>
            </a:r>
            <a:r>
              <a:rPr spc="10" dirty="0"/>
              <a:t>необходимо</a:t>
            </a:r>
            <a:r>
              <a:rPr spc="45" dirty="0"/>
              <a:t> </a:t>
            </a:r>
            <a:r>
              <a:rPr dirty="0"/>
              <a:t>учитывать</a:t>
            </a:r>
            <a:r>
              <a:rPr spc="45" dirty="0"/>
              <a:t> </a:t>
            </a:r>
            <a:r>
              <a:rPr spc="10" dirty="0"/>
              <a:t>соглашение</a:t>
            </a:r>
            <a:r>
              <a:rPr spc="45" dirty="0"/>
              <a:t> </a:t>
            </a:r>
            <a:r>
              <a:rPr spc="10" dirty="0"/>
              <a:t>об</a:t>
            </a:r>
            <a:r>
              <a:rPr spc="45" dirty="0"/>
              <a:t> </a:t>
            </a:r>
            <a:r>
              <a:rPr spc="-10" dirty="0"/>
              <a:t>именовании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1440180" cy="5080"/>
            </a:xfrm>
            <a:custGeom>
              <a:avLst/>
              <a:gdLst/>
              <a:ahLst/>
              <a:cxnLst/>
              <a:rect l="l" t="t" r="r" b="b"/>
              <a:pathLst>
                <a:path w="1440180" h="5079">
                  <a:moveTo>
                    <a:pt x="0" y="5060"/>
                  </a:moveTo>
                  <a:lnTo>
                    <a:pt x="0" y="0"/>
                  </a:lnTo>
                  <a:lnTo>
                    <a:pt x="1440018" y="0"/>
                  </a:lnTo>
                  <a:lnTo>
                    <a:pt x="144001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77"/>
            <a:ext cx="2155825" cy="179070"/>
          </a:xfr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ru-RU" b="0" i="0">
                <a:latin typeface="Microsoft Sans Serif"/>
                <a:ea typeface="+mj-ea"/>
                <a:cs typeface="Microsoft Sans Serif"/>
              </a:rPr>
              <a:t>Выполнение</a:t>
            </a:r>
            <a:r>
              <a:rPr lang="ru-RU" b="0" i="0" spc="155">
                <a:latin typeface="Microsoft Sans Serif"/>
                <a:ea typeface="+mj-ea"/>
                <a:cs typeface="Microsoft Sans Serif"/>
              </a:rPr>
              <a:t> </a:t>
            </a:r>
            <a:r>
              <a:rPr lang="ru-RU" b="0" i="0">
                <a:latin typeface="Microsoft Sans Serif"/>
                <a:ea typeface="+mj-ea"/>
                <a:cs typeface="Microsoft Sans Serif"/>
              </a:rPr>
              <a:t>лабораторной</a:t>
            </a:r>
            <a:r>
              <a:rPr lang="ru-RU" b="0" i="0" spc="160">
                <a:latin typeface="Microsoft Sans Serif"/>
                <a:ea typeface="+mj-ea"/>
                <a:cs typeface="Microsoft Sans Serif"/>
              </a:rPr>
              <a:t> </a:t>
            </a:r>
            <a:r>
              <a:rPr lang="ru-RU" b="0" i="0" spc="-10">
                <a:latin typeface="Microsoft Sans Serif"/>
                <a:ea typeface="+mj-ea"/>
                <a:cs typeface="Microsoft Sans Serif"/>
              </a:rPr>
              <a:t>работы</a:t>
            </a:r>
          </a:p>
        </p:txBody>
      </p:sp>
      <p:pic>
        <p:nvPicPr>
          <p:cNvPr id="10" name="Рисунок 9" descr="Изображение выглядит как текст, диаграмма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DBBCCA-82C8-3BBE-5770-F2CF517688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" y="766839"/>
            <a:ext cx="2508123" cy="2100552"/>
          </a:xfrm>
          <a:prstGeom prst="rect">
            <a:avLst/>
          </a:prstGeom>
          <a:noFill/>
        </p:spPr>
      </p:pic>
      <p:sp>
        <p:nvSpPr>
          <p:cNvPr id="8" name="object 8"/>
          <p:cNvSpPr txBox="1"/>
          <p:nvPr/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>
              <a:spcBef>
                <a:spcPts val="95"/>
              </a:spcBef>
            </a:pP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Рис.</a:t>
            </a:r>
            <a:r>
              <a:rPr lang="en-US" sz="900" b="0" i="0" spc="2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 spc="-5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1:</a:t>
            </a:r>
            <a:r>
              <a:rPr lang="en-US" sz="900" b="0" i="0" spc="3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Физические</a:t>
            </a:r>
            <a:r>
              <a:rPr lang="en-US" sz="900" b="0" i="0" spc="-1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устройства</a:t>
            </a:r>
            <a:r>
              <a:rPr lang="en-US" sz="900" b="0" i="0" spc="-1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 spc="-1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сети </a:t>
            </a: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с</a:t>
            </a:r>
            <a:r>
              <a:rPr lang="en-US" sz="900" b="0" i="0" spc="-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номерами</a:t>
            </a:r>
            <a:r>
              <a:rPr lang="en-US" sz="900" b="0" i="0" spc="-1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портов</a:t>
            </a:r>
            <a:r>
              <a:rPr lang="en-US" sz="900" b="0" i="0" spc="-1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 spc="-2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(Layer</a:t>
            </a:r>
            <a:r>
              <a:rPr lang="en-US" sz="900" b="0" i="0" spc="-1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 spc="-2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1)</a:t>
            </a:r>
            <a:endParaRPr lang="en-US" sz="900" b="0" i="0">
              <a:solidFill>
                <a:srgbClr val="22373A"/>
              </a:solidFill>
              <a:latin typeface="Tahoma"/>
              <a:ea typeface="+mn-e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2160270" cy="5080"/>
            </a:xfrm>
            <a:custGeom>
              <a:avLst/>
              <a:gdLst/>
              <a:ahLst/>
              <a:cxnLst/>
              <a:rect l="l" t="t" r="r" b="b"/>
              <a:pathLst>
                <a:path w="2160270" h="5079">
                  <a:moveTo>
                    <a:pt x="0" y="5060"/>
                  </a:moveTo>
                  <a:lnTo>
                    <a:pt x="0" y="0"/>
                  </a:lnTo>
                  <a:lnTo>
                    <a:pt x="2160027" y="0"/>
                  </a:lnTo>
                  <a:lnTo>
                    <a:pt x="21600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55926" y="532500"/>
            <a:ext cx="124841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Таблица</a:t>
            </a:r>
            <a:r>
              <a:rPr sz="8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1:</a:t>
            </a:r>
            <a:r>
              <a:rPr sz="8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Таблица VLAN</a:t>
            </a:r>
            <a:endParaRPr sz="85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38795" y="798258"/>
          <a:ext cx="3091815" cy="1922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№</a:t>
                      </a:r>
                      <a:r>
                        <a:rPr sz="900" spc="-4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VLAN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T w="9525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Имя</a:t>
                      </a:r>
                      <a:r>
                        <a:rPr sz="900" spc="5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VLAN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T w="9525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Примечание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T w="9525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900" spc="-5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667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default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667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Не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используется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667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5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management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Для</a:t>
                      </a:r>
                      <a:r>
                        <a:rPr sz="900" spc="6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управления</a:t>
                      </a:r>
                      <a:r>
                        <a:rPr sz="900" spc="6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устройствами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5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servers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Для</a:t>
                      </a:r>
                      <a:r>
                        <a:rPr sz="900" spc="7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серверной</a:t>
                      </a:r>
                      <a:r>
                        <a:rPr sz="900" spc="8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фермы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4-100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Зарезервировано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dk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Дисплейные</a:t>
                      </a:r>
                      <a:r>
                        <a:rPr sz="900" spc="10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классы</a:t>
                      </a:r>
                      <a:r>
                        <a:rPr sz="900" spc="10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(ДК)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departamens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Кафедры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adm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Администрация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other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Для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других</a:t>
                      </a:r>
                      <a:r>
                        <a:rPr sz="900" spc="-1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пользователей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95"/>
              </a:spcBef>
            </a:pPr>
            <a:r>
              <a:rPr lang="en-US" sz="1000" b="0" i="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Рис.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2:</a:t>
            </a:r>
            <a:r>
              <a:rPr lang="en-US" sz="1000" b="0" i="0" spc="-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Схема</a:t>
            </a:r>
            <a:r>
              <a:rPr lang="en-US" sz="1000" b="0" i="0" spc="-4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VLAN</a:t>
            </a:r>
            <a:r>
              <a:rPr lang="en-US" sz="1000" b="0" i="0" spc="-4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1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сети</a:t>
            </a:r>
            <a:r>
              <a:rPr lang="en-US" sz="1000" b="0" i="0" spc="-5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(Layer</a:t>
            </a:r>
            <a:r>
              <a:rPr lang="en-US" sz="1000" b="0" i="0" spc="-40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 </a:t>
            </a:r>
            <a:r>
              <a:rPr lang="en-US" sz="1000" b="0" i="0" spc="-25">
                <a:solidFill>
                  <a:srgbClr val="F9F9F9"/>
                </a:solidFill>
                <a:latin typeface="Microsoft Sans Serif"/>
                <a:ea typeface="+mj-ea"/>
                <a:cs typeface="Microsoft Sans Serif"/>
              </a:rPr>
              <a:t>2)</a:t>
            </a:r>
            <a:endParaRPr lang="en-US" sz="1000" b="0" i="0">
              <a:solidFill>
                <a:srgbClr val="F9F9F9"/>
              </a:solidFill>
              <a:latin typeface="Microsoft Sans Serif"/>
              <a:ea typeface="+mj-ea"/>
              <a:cs typeface="Microsoft Sans Serif"/>
            </a:endParaRPr>
          </a:p>
        </p:txBody>
      </p:sp>
      <p:pic>
        <p:nvPicPr>
          <p:cNvPr id="10" name="Рисунок 9" descr="Изображение выглядит как снимок экрана, текст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01BD0C-A111-F47A-8E5C-800021D737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" y="769974"/>
            <a:ext cx="2508123" cy="2094282"/>
          </a:xfrm>
          <a:prstGeom prst="rect">
            <a:avLst/>
          </a:prstGeom>
          <a:noFill/>
        </p:spPr>
      </p:pic>
      <p:sp>
        <p:nvSpPr>
          <p:cNvPr id="2" name="object 2"/>
          <p:cNvSpPr txBox="1"/>
          <p:nvPr/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>
              <a:spcBef>
                <a:spcPts val="105"/>
              </a:spcBef>
            </a:pP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Выполнение</a:t>
            </a:r>
            <a:r>
              <a:rPr lang="en-US" sz="900" b="0" i="0" spc="155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лабораторной</a:t>
            </a:r>
            <a:r>
              <a:rPr lang="en-US" sz="900" b="0" i="0" spc="16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 </a:t>
            </a:r>
            <a:r>
              <a:rPr lang="en-US" sz="900" b="0" i="0" spc="-10">
                <a:solidFill>
                  <a:srgbClr val="22373A"/>
                </a:solidFill>
                <a:latin typeface="Tahoma"/>
                <a:ea typeface="+mn-ea"/>
                <a:cs typeface="Tahoma"/>
              </a:rPr>
              <a:t>работы</a:t>
            </a:r>
            <a:endParaRPr lang="en-US" sz="900" b="0" i="0">
              <a:solidFill>
                <a:srgbClr val="22373A"/>
              </a:solidFill>
              <a:latin typeface="Tahoma"/>
              <a:ea typeface="+mn-e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01647" y="2497076"/>
            <a:ext cx="215709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3: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Схема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маршрутизации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(Layer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3)</a:t>
            </a:r>
            <a:endParaRPr sz="850">
              <a:latin typeface="Tahoma"/>
              <a:cs typeface="Tahoma"/>
            </a:endParaRPr>
          </a:p>
        </p:txBody>
      </p:sp>
      <p:pic>
        <p:nvPicPr>
          <p:cNvPr id="10" name="Рисунок 9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083455-14FE-D0F8-333F-97BC38C2B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07" y="337837"/>
            <a:ext cx="3058916" cy="223480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3240405" cy="5080"/>
            </a:xfrm>
            <a:custGeom>
              <a:avLst/>
              <a:gdLst/>
              <a:ahLst/>
              <a:cxnLst/>
              <a:rect l="l" t="t" r="r" b="b"/>
              <a:pathLst>
                <a:path w="3240405" h="5079">
                  <a:moveTo>
                    <a:pt x="0" y="5060"/>
                  </a:moveTo>
                  <a:lnTo>
                    <a:pt x="0" y="0"/>
                  </a:lnTo>
                  <a:lnTo>
                    <a:pt x="3240041" y="0"/>
                  </a:lnTo>
                  <a:lnTo>
                    <a:pt x="32400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98853" y="486247"/>
            <a:ext cx="196278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Таблица</a:t>
            </a:r>
            <a:r>
              <a:rPr sz="8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2:</a:t>
            </a:r>
            <a:r>
              <a:rPr sz="8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Таблица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90" dirty="0">
                <a:solidFill>
                  <a:srgbClr val="22373A"/>
                </a:solidFill>
                <a:latin typeface="Tahoma"/>
                <a:cs typeface="Tahoma"/>
              </a:rPr>
              <a:t>IP.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Сеть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50" dirty="0">
                <a:solidFill>
                  <a:srgbClr val="22373A"/>
                </a:solidFill>
                <a:latin typeface="Tahoma"/>
                <a:cs typeface="Tahoma"/>
              </a:rPr>
              <a:t>10.128.0.0/16</a:t>
            </a:r>
            <a:endParaRPr sz="85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65630" y="752005"/>
          <a:ext cx="2637790" cy="2317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IP-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адреса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T w="9525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Примечание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T w="9525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VLAN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T w="9525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10.128.0.0/16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667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Вся</a:t>
                      </a:r>
                      <a:r>
                        <a:rPr sz="900" spc="4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сеть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66675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10.128.0.0/24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Серверная</a:t>
                      </a:r>
                      <a:r>
                        <a:rPr sz="900" spc="1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ферма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5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Шлюз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Web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File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Mail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Dns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6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10.128.0.6-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10.128.0.254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Зарезервировано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10.128.1.0/24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Управление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5565" marR="31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5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10.128.1.1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Шлюз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4320540" cy="5080"/>
            </a:xfrm>
            <a:custGeom>
              <a:avLst/>
              <a:gdLst/>
              <a:ahLst/>
              <a:cxnLst/>
              <a:rect l="l" t="t" r="r" b="b"/>
              <a:pathLst>
                <a:path w="4320540" h="5079">
                  <a:moveTo>
                    <a:pt x="0" y="5060"/>
                  </a:moveTo>
                  <a:lnTo>
                    <a:pt x="0" y="0"/>
                  </a:lnTo>
                  <a:lnTo>
                    <a:pt x="4320055" y="0"/>
                  </a:lnTo>
                  <a:lnTo>
                    <a:pt x="4320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99882" y="2497076"/>
            <a:ext cx="216027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 4: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Схема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маршрутизации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(Layer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3)</a:t>
            </a:r>
            <a:endParaRPr sz="8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65"/>
              </a:spcBef>
            </a:pPr>
            <a:r>
              <a:rPr spc="-10" dirty="0"/>
              <a:t>12/16</a:t>
            </a:r>
          </a:p>
        </p:txBody>
      </p:sp>
      <p:pic>
        <p:nvPicPr>
          <p:cNvPr id="11" name="Рисунок 10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6AF262-6072-2751-06A5-257542F513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544099"/>
            <a:ext cx="2533615" cy="18510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77"/>
            <a:ext cx="2155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Выполнение</a:t>
            </a:r>
            <a:r>
              <a:rPr sz="1000" spc="155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9F9F9"/>
                </a:solidFill>
                <a:latin typeface="Microsoft Sans Serif"/>
                <a:cs typeface="Microsoft Sans Serif"/>
              </a:rPr>
              <a:t>лабораторной</a:t>
            </a:r>
            <a:r>
              <a:rPr sz="1000" spc="160" dirty="0">
                <a:solidFill>
                  <a:srgbClr val="F9F9F9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9F9F9"/>
                </a:solidFill>
                <a:latin typeface="Microsoft Sans Serif"/>
                <a:cs typeface="Microsoft Sans Serif"/>
              </a:rPr>
              <a:t>работы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4680585" cy="5080"/>
            </a:xfrm>
            <a:custGeom>
              <a:avLst/>
              <a:gdLst/>
              <a:ahLst/>
              <a:cxnLst/>
              <a:rect l="l" t="t" r="r" b="b"/>
              <a:pathLst>
                <a:path w="4680585" h="5079">
                  <a:moveTo>
                    <a:pt x="0" y="5060"/>
                  </a:moveTo>
                  <a:lnTo>
                    <a:pt x="0" y="0"/>
                  </a:lnTo>
                  <a:lnTo>
                    <a:pt x="4680059" y="0"/>
                  </a:lnTo>
                  <a:lnTo>
                    <a:pt x="46800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01533" y="2497076"/>
            <a:ext cx="2157095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Рис.</a:t>
            </a:r>
            <a:r>
              <a:rPr sz="8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2373A"/>
                </a:solidFill>
                <a:latin typeface="Microsoft Sans Serif"/>
                <a:cs typeface="Microsoft Sans Serif"/>
              </a:rPr>
              <a:t>5:</a:t>
            </a:r>
            <a:r>
              <a:rPr sz="8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850" spc="-20" dirty="0">
                <a:solidFill>
                  <a:srgbClr val="22373A"/>
                </a:solidFill>
                <a:latin typeface="Tahoma"/>
                <a:cs typeface="Tahoma"/>
              </a:rPr>
              <a:t>Схема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22373A"/>
                </a:solidFill>
                <a:latin typeface="Tahoma"/>
                <a:cs typeface="Tahoma"/>
              </a:rPr>
              <a:t>маршрутизации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(Layer</a:t>
            </a:r>
            <a:r>
              <a:rPr sz="850" spc="-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25" dirty="0">
                <a:solidFill>
                  <a:srgbClr val="22373A"/>
                </a:solidFill>
                <a:latin typeface="Tahoma"/>
                <a:cs typeface="Tahoma"/>
              </a:rPr>
              <a:t>3)</a:t>
            </a:r>
            <a:endParaRPr sz="8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65"/>
              </a:spcBef>
            </a:pPr>
            <a:r>
              <a:rPr spc="-10" dirty="0"/>
              <a:t>13/16</a:t>
            </a:r>
          </a:p>
        </p:txBody>
      </p:sp>
      <p:pic>
        <p:nvPicPr>
          <p:cNvPr id="11" name="Рисунок 10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F6EAB6-E64F-0E14-3F20-D29AF2A08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435" y="356274"/>
            <a:ext cx="2729214" cy="216693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495C4F4-AEA1-EB04-DEF0-D2DA4722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31" y="82877"/>
            <a:ext cx="2155825" cy="307777"/>
          </a:xfrm>
        </p:spPr>
        <p:txBody>
          <a:bodyPr/>
          <a:lstStyle/>
          <a:p>
            <a:r>
              <a:rPr lang="ru-RU" dirty="0"/>
              <a:t>Выполнение</a:t>
            </a:r>
            <a:r>
              <a:rPr lang="ru-RU" spc="155" dirty="0"/>
              <a:t> </a:t>
            </a:r>
            <a:r>
              <a:rPr lang="ru-RU" dirty="0"/>
              <a:t>лабораторной</a:t>
            </a:r>
            <a:r>
              <a:rPr lang="ru-RU" spc="160" dirty="0"/>
              <a:t> </a:t>
            </a:r>
            <a:r>
              <a:rPr lang="ru-RU" spc="-10" dirty="0"/>
              <a:t>работы</a:t>
            </a:r>
            <a:br>
              <a:rPr lang="ru-RU" dirty="0"/>
            </a:br>
            <a:endParaRPr lang="en-US" dirty="0"/>
          </a:p>
        </p:txBody>
      </p:sp>
      <p:pic>
        <p:nvPicPr>
          <p:cNvPr id="3" name="Рисунок 2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CFED7B-973C-C8AD-6168-0C64E49768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" y="829542"/>
            <a:ext cx="2508123" cy="1975146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8F70256-F18A-E0AD-6560-D99A385078C2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88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95BA241-D49C-C1D5-8B4D-5B351FEE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31" y="82877"/>
            <a:ext cx="2155825" cy="153888"/>
          </a:xfrm>
        </p:spPr>
        <p:txBody>
          <a:bodyPr/>
          <a:lstStyle/>
          <a:p>
            <a:r>
              <a:rPr lang="ru-RU" dirty="0"/>
              <a:t>Выполнение</a:t>
            </a:r>
            <a:r>
              <a:rPr lang="ru-RU" spc="155" dirty="0"/>
              <a:t> </a:t>
            </a:r>
            <a:r>
              <a:rPr lang="ru-RU" dirty="0"/>
              <a:t>лабораторной</a:t>
            </a:r>
            <a:r>
              <a:rPr lang="ru-RU" spc="160" dirty="0"/>
              <a:t> </a:t>
            </a:r>
            <a:r>
              <a:rPr lang="ru-RU" spc="-10" dirty="0"/>
              <a:t>работы</a:t>
            </a:r>
            <a:endParaRPr lang="en-US" dirty="0"/>
          </a:p>
        </p:txBody>
      </p:sp>
      <p:pic>
        <p:nvPicPr>
          <p:cNvPr id="3" name="Рисунок 2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ED5B6A-B003-20BD-7A69-250CDE88EA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" y="817002"/>
            <a:ext cx="2508123" cy="2000227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62E3DD4-DAF2-1FCA-1656-FA2FA89183C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23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Выводы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819"/>
            <a:ext cx="5760085" cy="5080"/>
            <a:chOff x="0" y="358819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53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819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435471"/>
            <a:ext cx="4368165" cy="384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процессе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выполнения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лабораторной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работы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я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lang="ru-RU" sz="900" spc="10" dirty="0">
                <a:solidFill>
                  <a:srgbClr val="22373A"/>
                </a:solidFill>
                <a:latin typeface="Tahoma"/>
                <a:cs typeface="Tahoma"/>
              </a:rPr>
              <a:t>познакомился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принципами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планирования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локальной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сети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организации.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5109" y="2992643"/>
            <a:ext cx="247015" cy="1473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650" spc="-20" dirty="0">
                <a:solidFill>
                  <a:srgbClr val="22373A"/>
                </a:solidFill>
                <a:latin typeface="Tahoma"/>
                <a:cs typeface="Tahoma"/>
              </a:rPr>
              <a:t>16/16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296</Words>
  <Application>Microsoft Office PowerPoint</Application>
  <PresentationFormat>Произвольный</PresentationFormat>
  <Paragraphs>85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Microsoft Sans Serif</vt:lpstr>
      <vt:lpstr>Tahoma</vt:lpstr>
      <vt:lpstr>Times New Roman</vt:lpstr>
      <vt:lpstr>Office Theme</vt:lpstr>
      <vt:lpstr>Лабораторная работа №3</vt:lpstr>
      <vt:lpstr>Презентация PowerPoint</vt:lpstr>
      <vt:lpstr>Задание</vt:lpstr>
      <vt:lpstr>Выполнение лабораторной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Выполнение лабораторной работы </vt:lpstr>
      <vt:lpstr>Выполнение лабораторной работы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№3 - Планирование локальной сети организации</dc:title>
  <dc:creator>Беличева Д. М.</dc:creator>
  <cp:lastModifiedBy>Никита Сахно</cp:lastModifiedBy>
  <cp:revision>1</cp:revision>
  <dcterms:created xsi:type="dcterms:W3CDTF">2026-02-25T19:15:31Z</dcterms:created>
  <dcterms:modified xsi:type="dcterms:W3CDTF">2026-02-25T19:20:02Z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2024-03-02T00:00:00Z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(20220710)</vt:lpwstr>
  </property>
  <property fmtid="{D5CDD505-2E9C-101B-9397-08002B2CF9AE}" pid="5" name="LastSaved">
    <vt:filetime>2024-03-02T00:00:00Z</vt:filetime>
  </property>
</Properties>
</file>