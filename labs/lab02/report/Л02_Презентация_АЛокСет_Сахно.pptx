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7" r:id="rId9"/>
    <p:sldId id="268" r:id="rId10"/>
    <p:sldId id="271" r:id="rId11"/>
    <p:sldId id="273" r:id="rId12"/>
    <p:sldId id="272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№2</a:t>
            </a:r>
            <a:br>
              <a:rPr lang="ru-RU" b="1" dirty="0"/>
            </a:br>
            <a:r>
              <a:rPr lang="ru-RU" sz="2700" b="1" dirty="0"/>
              <a:t>Администрирование локальных сетей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Получить основные навыки по начальному конфигурированию оборудования Cisco.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Сделать предварительную настройку маршрутизатора: – задать имя в виде «город-территория-</a:t>
            </a:r>
            <a:r>
              <a:rPr lang="ru-RU" dirty="0" err="1"/>
              <a:t>учётная_записьтип_оборудования</a:t>
            </a:r>
            <a:r>
              <a:rPr lang="ru-RU" dirty="0"/>
              <a:t>-номер» (см. пункт 2.5), например msk-donskaya-osbender-gw-1; – задать интерфейсу Fast Ethernet с номером 0 </a:t>
            </a:r>
            <a:r>
              <a:rPr lang="ru-RU" dirty="0" err="1"/>
              <a:t>ip</a:t>
            </a:r>
            <a:r>
              <a:rPr lang="ru-RU" dirty="0"/>
              <a:t>-адрес 192.168.1.254 и маску 255.255.255.0, затем поднять интерфейс; – задать пароль для доступа к привилегированному режиму (сначала в открытом виде, затем — в зашифрованном); – настроить доступ к оборудованию сначала через </a:t>
            </a:r>
            <a:r>
              <a:rPr lang="ru-RU" dirty="0" err="1"/>
              <a:t>telnet</a:t>
            </a:r>
            <a:r>
              <a:rPr lang="ru-RU" dirty="0"/>
              <a:t>, затем — через </a:t>
            </a:r>
            <a:r>
              <a:rPr lang="ru-RU" dirty="0" err="1"/>
              <a:t>ssh</a:t>
            </a:r>
            <a:r>
              <a:rPr lang="ru-RU" dirty="0"/>
              <a:t> (используя в качестве имени домена donskaya.rudn.edu); – сохранить и экспортировать конфигурацию в отдельный файл. 2. Сделать предварительную настройку коммутатора: – задать имя в виде «город-территория-</a:t>
            </a:r>
            <a:r>
              <a:rPr lang="ru-RU" dirty="0" err="1"/>
              <a:t>учётная_записьтип_оборудования</a:t>
            </a:r>
            <a:r>
              <a:rPr lang="ru-RU" dirty="0"/>
              <a:t>-номер» (см. пункт 2.5), например msk-donskaya-osbender-sw-1; – задать интерфейсу </a:t>
            </a:r>
            <a:r>
              <a:rPr lang="ru-RU" dirty="0" err="1"/>
              <a:t>vlan</a:t>
            </a:r>
            <a:r>
              <a:rPr lang="ru-RU" dirty="0"/>
              <a:t> 2 </a:t>
            </a:r>
            <a:r>
              <a:rPr lang="ru-RU" dirty="0" err="1"/>
              <a:t>ip</a:t>
            </a:r>
            <a:r>
              <a:rPr lang="ru-RU" dirty="0"/>
              <a:t>-адрес 192.168.2.1 и маску 255.255.255.0, затем поднять интерфейс; – привязать интерфейс Fast Ethernet с номером 1 к </a:t>
            </a:r>
            <a:r>
              <a:rPr lang="ru-RU" dirty="0" err="1"/>
              <a:t>vlan</a:t>
            </a:r>
            <a:r>
              <a:rPr lang="ru-RU" dirty="0"/>
              <a:t> 2; – задать в качестве адреса шлюза по умолчанию адрес 192.168.2.254; – задать пароль для доступа к привилегированному режиму (сначала в открытом виде, затем — в зашифрованном); – настроить доступ к оборудованию сначала через </a:t>
            </a:r>
            <a:r>
              <a:rPr lang="ru-RU" dirty="0" err="1"/>
              <a:t>telnet</a:t>
            </a:r>
            <a:r>
              <a:rPr lang="ru-RU" dirty="0"/>
              <a:t>, затем — через </a:t>
            </a:r>
            <a:r>
              <a:rPr lang="ru-RU" dirty="0" err="1"/>
              <a:t>ssh</a:t>
            </a:r>
            <a:r>
              <a:rPr lang="ru-RU" dirty="0"/>
              <a:t> (используя в качестве имени домена donskaya.rudn.edu); – для пользователя </a:t>
            </a:r>
            <a:r>
              <a:rPr lang="ru-RU" dirty="0" err="1"/>
              <a:t>admin</a:t>
            </a:r>
            <a:r>
              <a:rPr lang="ru-RU" dirty="0"/>
              <a:t> задать доступ 1-го уровня по паролю; – сохранить и экспортировать конфигурацию в отдельный файл.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7" name="Объект 6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023DCF-B4D0-077D-69A2-03AFA9EFD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82" y="950679"/>
            <a:ext cx="6912217" cy="443295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04D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4E9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8" name="Объект 7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991A02-FB62-7405-F8E2-67339D042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136696"/>
            <a:ext cx="6912217" cy="406092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1CC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06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75F8FC7-2268-462F-AFF6-A4A975C34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5A61A2-BEF4-0DE9-1148-FC5FD4FCD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47" b="-1"/>
          <a:stretch>
            <a:fillRect/>
          </a:stretch>
        </p:blipFill>
        <p:spPr>
          <a:xfrm>
            <a:off x="633999" y="640081"/>
            <a:ext cx="5462001" cy="505415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F45B32-FB97-49CC-B778-CA7CF87BE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D1C364C-8702-4ED9-9D23-41CDB298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E051E9-6C07-4FBB-B4F7-EDF8DDEA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0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22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7" name="Straight Connector 24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26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E54CA9-658D-DFD9-33DE-3A33F365E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960007"/>
            <a:ext cx="6912217" cy="4414303"/>
          </a:xfrm>
          <a:prstGeom prst="rect">
            <a:avLst/>
          </a:prstGeom>
        </p:spPr>
      </p:pic>
      <p:cxnSp>
        <p:nvCxnSpPr>
          <p:cNvPr id="39" name="Straight Connector 28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0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1" name="Rectangle 32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AF4EAF-03F3-644B-4DA1-1ABE8AA13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711211"/>
            <a:ext cx="6912217" cy="291189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ADB9BC-9E4A-E198-A8CC-3C0067519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744" y="640081"/>
            <a:ext cx="5196726" cy="505415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4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1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10" name="Объект 9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F8EB51-59BF-B1D9-EC01-E7A8E8C7C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32" y="2926434"/>
            <a:ext cx="3094997" cy="1450779"/>
          </a:xfrm>
          <a:prstGeom prst="rect">
            <a:avLst/>
          </a:prstGeom>
        </p:spPr>
      </p:pic>
      <p:sp>
        <p:nvSpPr>
          <p:cNvPr id="59" name="Content Placeholder 48">
            <a:extLst>
              <a:ext uri="{FF2B5EF4-FFF2-40B4-BE49-F238E27FC236}">
                <a16:creationId xmlns:a16="http://schemas.microsoft.com/office/drawing/2014/main" id="{919B8348-F842-6625-217B-EE35DE43B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0" name="Rectangle 53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1" name="Rectangle 55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84784-2CDB-AEEB-7684-85585439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4D3A2-4ABB-4F1D-A6A9-CEC87538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0BB37F-3F40-496B-3B6E-B027EC8F6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" r="1" b="8767"/>
          <a:stretch>
            <a:fillRect/>
          </a:stretch>
        </p:blipFill>
        <p:spPr>
          <a:xfrm>
            <a:off x="635457" y="640080"/>
            <a:ext cx="10916463" cy="360273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74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вопросы: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ru-RU" dirty="0"/>
              <a:t>Укажите возможные способы подключения к сетевому оборудованию.</a:t>
            </a:r>
          </a:p>
          <a:p>
            <a:r>
              <a:rPr lang="ru-RU" dirty="0"/>
              <a:t>Можно подключиться с помощью консольного кабеля или удаленно по </a:t>
            </a:r>
            <a:r>
              <a:rPr lang="ru-RU" dirty="0" err="1"/>
              <a:t>ssh</a:t>
            </a:r>
            <a:r>
              <a:rPr lang="ru-RU" dirty="0"/>
              <a:t> или </a:t>
            </a:r>
            <a:r>
              <a:rPr lang="ru-RU" dirty="0" err="1"/>
              <a:t>telnet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Каким типом сетевого кабеля следует подключать оконечное оборудование пользователя к маршрутизатору и почему?</a:t>
            </a:r>
          </a:p>
          <a:p>
            <a:r>
              <a:rPr lang="ru-RU" dirty="0"/>
              <a:t>Кроссовым кабелем</a:t>
            </a:r>
          </a:p>
          <a:p>
            <a:pPr lvl="0"/>
            <a:r>
              <a:rPr lang="ru-RU" dirty="0"/>
              <a:t>Каким типом сетевого кабеля следует подключать оконечное оборудование пользователя к коммутатору и почему?</a:t>
            </a:r>
          </a:p>
          <a:p>
            <a:r>
              <a:rPr lang="ru-RU" dirty="0"/>
              <a:t>Прямым кабелем (витой парой).</a:t>
            </a:r>
          </a:p>
          <a:p>
            <a:pPr lvl="0"/>
            <a:r>
              <a:rPr lang="ru-RU" dirty="0"/>
              <a:t>Каким типом сетевого кабеля следует подключать коммутатор к коммутатору и почему?</a:t>
            </a:r>
          </a:p>
          <a:p>
            <a:r>
              <a:rPr lang="ru-RU" dirty="0"/>
              <a:t>Кроссовым кабелем (для соединения одинокого оборудования используют кроссовый кабель)</a:t>
            </a:r>
          </a:p>
          <a:p>
            <a:pPr lvl="0"/>
            <a:r>
              <a:rPr lang="ru-RU" dirty="0"/>
              <a:t>Укажите возможные способы настройки доступа к сетевому оборудованию по паролю.</a:t>
            </a:r>
          </a:p>
          <a:p>
            <a:r>
              <a:rPr lang="ru-RU" dirty="0"/>
              <a:t>С помощью команды </a:t>
            </a:r>
            <a:r>
              <a:rPr lang="ru-RU" dirty="0" err="1"/>
              <a:t>password</a:t>
            </a:r>
            <a:r>
              <a:rPr lang="ru-RU" dirty="0"/>
              <a:t> или с помощью команды </a:t>
            </a:r>
            <a:r>
              <a:rPr lang="ru-RU" dirty="0" err="1"/>
              <a:t>secret</a:t>
            </a:r>
            <a:endParaRPr lang="ru-RU" dirty="0"/>
          </a:p>
          <a:p>
            <a:pPr lvl="0"/>
            <a:r>
              <a:rPr lang="ru-RU" dirty="0"/>
              <a:t>Укажите возможные способы настройки удалённого доступа к сетевому оборудованию. Какой из способов предпочтительнее и почему?</a:t>
            </a:r>
          </a:p>
          <a:p>
            <a:r>
              <a:rPr lang="ru-RU" dirty="0"/>
              <a:t>Через </a:t>
            </a:r>
            <a:r>
              <a:rPr lang="ru-RU" dirty="0" err="1"/>
              <a:t>telnet</a:t>
            </a:r>
            <a:r>
              <a:rPr lang="ru-RU" dirty="0"/>
              <a:t> или </a:t>
            </a:r>
            <a:r>
              <a:rPr lang="ru-RU" dirty="0" err="1"/>
              <a:t>ssh</a:t>
            </a:r>
            <a:r>
              <a:rPr lang="ru-RU" dirty="0"/>
              <a:t>. SSH обеспечивает шифрование и аутентификацию по умолчанию, в отличие от </a:t>
            </a:r>
            <a:r>
              <a:rPr lang="ru-RU" dirty="0" err="1"/>
              <a:t>Telnet</a:t>
            </a:r>
            <a:r>
              <a:rPr lang="ru-RU" dirty="0"/>
              <a:t>, который не предоставляет эти функции, поэтому он лучше.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17DA-591F-7F07-7866-7743AEF7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5AC43B2-1B5D-526E-7547-BC673FF5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8D5AEFD-61E6-5ED8-8907-7C9330579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В процессе выполнения данной лабораторной работы я получил основные навыки по начальному конфигурированию оборудования Cisco.</a:t>
            </a:r>
          </a:p>
        </p:txBody>
      </p:sp>
    </p:spTree>
    <p:extLst>
      <p:ext uri="{BB962C8B-B14F-4D97-AF65-F5344CB8AC3E}">
        <p14:creationId xmlns:p14="http://schemas.microsoft.com/office/powerpoint/2010/main" val="366590213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75</TotalTime>
  <Words>445</Words>
  <Application>Microsoft Office PowerPoint</Application>
  <PresentationFormat>Широкоэкранный</PresentationFormat>
  <Paragraphs>30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Ретро</vt:lpstr>
      <vt:lpstr>Лабораторная работа №2 Администрирование локальных сетей </vt:lpstr>
      <vt:lpstr>Цель</vt:lpstr>
      <vt:lpstr>Задания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Контрольные вопросы: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26</cp:revision>
  <dcterms:created xsi:type="dcterms:W3CDTF">2023-10-14T19:58:32Z</dcterms:created>
  <dcterms:modified xsi:type="dcterms:W3CDTF">2026-02-16T11:43:36Z</dcterms:modified>
</cp:coreProperties>
</file>