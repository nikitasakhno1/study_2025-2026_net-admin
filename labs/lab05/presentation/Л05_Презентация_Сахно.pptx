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8" r:id="rId10"/>
    <p:sldId id="269" r:id="rId11"/>
    <p:sldId id="273" r:id="rId12"/>
    <p:sldId id="272" r:id="rId13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86" y="50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94" y="894656"/>
            <a:ext cx="1888489" cy="210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F9F9F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7294" y="1872960"/>
            <a:ext cx="2342515" cy="423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29209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9F9F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29209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9F9F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29209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9F9F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29209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29209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59410"/>
          </a:xfrm>
          <a:custGeom>
            <a:avLst/>
            <a:gdLst/>
            <a:ahLst/>
            <a:cxnLst/>
            <a:rect l="l" t="t" r="r" b="b"/>
            <a:pathLst>
              <a:path w="5760085" h="359410">
                <a:moveTo>
                  <a:pt x="5759996" y="0"/>
                </a:moveTo>
                <a:lnTo>
                  <a:pt x="0" y="0"/>
                </a:lnTo>
                <a:lnTo>
                  <a:pt x="0" y="358800"/>
                </a:lnTo>
                <a:lnTo>
                  <a:pt x="5759996" y="358800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31" y="82877"/>
            <a:ext cx="2155825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F9F9F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3608" y="643931"/>
            <a:ext cx="4937125" cy="2004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0786" y="2992643"/>
            <a:ext cx="241300" cy="14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29209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47294" y="894656"/>
            <a:ext cx="1888489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solidFill>
                  <a:srgbClr val="22373A"/>
                </a:solidFill>
              </a:rPr>
              <a:t>Лабораторная</a:t>
            </a:r>
            <a:r>
              <a:rPr sz="1200" spc="45" dirty="0">
                <a:solidFill>
                  <a:srgbClr val="22373A"/>
                </a:solidFill>
              </a:rPr>
              <a:t> </a:t>
            </a:r>
            <a:r>
              <a:rPr sz="1200" dirty="0" err="1">
                <a:solidFill>
                  <a:srgbClr val="22373A"/>
                </a:solidFill>
              </a:rPr>
              <a:t>работа</a:t>
            </a:r>
            <a:r>
              <a:rPr sz="1200" spc="50" dirty="0">
                <a:solidFill>
                  <a:srgbClr val="22373A"/>
                </a:solidFill>
              </a:rPr>
              <a:t> </a:t>
            </a:r>
            <a:r>
              <a:rPr sz="1200" spc="-25" dirty="0">
                <a:solidFill>
                  <a:srgbClr val="22373A"/>
                </a:solidFill>
              </a:rPr>
              <a:t>№</a:t>
            </a:r>
            <a:r>
              <a:rPr lang="en-US" sz="1200" spc="-25" dirty="0">
                <a:solidFill>
                  <a:srgbClr val="22373A"/>
                </a:solidFill>
              </a:rPr>
              <a:t>5</a:t>
            </a:r>
            <a:endParaRPr sz="1200" dirty="0"/>
          </a:p>
        </p:txBody>
      </p:sp>
      <p:sp>
        <p:nvSpPr>
          <p:cNvPr id="5" name="object 5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850" dirty="0"/>
              <a:t>Сахно Никита Вячеславович</a:t>
            </a:r>
            <a:endParaRPr sz="850" dirty="0"/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850" dirty="0"/>
          </a:p>
          <a:p>
            <a:pPr marL="12700">
              <a:lnSpc>
                <a:spcPct val="100000"/>
              </a:lnSpc>
            </a:pPr>
            <a:r>
              <a:rPr sz="650" spc="10" dirty="0"/>
              <a:t>Российский</a:t>
            </a:r>
            <a:r>
              <a:rPr sz="650" spc="25" dirty="0"/>
              <a:t> </a:t>
            </a:r>
            <a:r>
              <a:rPr sz="650" spc="10" dirty="0"/>
              <a:t>университет</a:t>
            </a:r>
            <a:r>
              <a:rPr sz="650" spc="25" dirty="0"/>
              <a:t> </a:t>
            </a:r>
            <a:r>
              <a:rPr sz="650" spc="10" dirty="0"/>
              <a:t>дружбы</a:t>
            </a:r>
            <a:r>
              <a:rPr sz="650" spc="25" dirty="0"/>
              <a:t> </a:t>
            </a:r>
            <a:r>
              <a:rPr sz="650" spc="10" dirty="0"/>
              <a:t>народов,</a:t>
            </a:r>
            <a:r>
              <a:rPr sz="650" spc="25" dirty="0"/>
              <a:t> </a:t>
            </a:r>
            <a:r>
              <a:rPr sz="650" spc="10" dirty="0"/>
              <a:t>Москва,</a:t>
            </a:r>
            <a:r>
              <a:rPr sz="650" spc="25" dirty="0"/>
              <a:t> </a:t>
            </a:r>
            <a:r>
              <a:rPr sz="650" spc="-10" dirty="0"/>
              <a:t>Россия</a:t>
            </a:r>
            <a:endParaRPr sz="650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1199713"/>
            <a:ext cx="2692400" cy="16863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ru-RU" sz="1000" dirty="0"/>
              <a:t>Конфигурирование </a:t>
            </a:r>
            <a:r>
              <a:rPr lang="en-US" sz="1000" dirty="0"/>
              <a:t>VLAN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9994" y="1598580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  <a:ln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65241" y="2992643"/>
            <a:ext cx="207010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z="650" spc="-20" dirty="0">
                <a:solidFill>
                  <a:srgbClr val="22373A"/>
                </a:solidFill>
                <a:latin typeface="Tahoma"/>
                <a:cs typeface="Tahoma"/>
              </a:rPr>
              <a:t>1</a:t>
            </a:fld>
            <a:r>
              <a:rPr sz="650" spc="-20" dirty="0">
                <a:solidFill>
                  <a:srgbClr val="22373A"/>
                </a:solidFill>
                <a:latin typeface="Tahoma"/>
                <a:cs typeface="Tahoma"/>
              </a:rPr>
              <a:t>/16</a:t>
            </a:r>
            <a:endParaRPr sz="65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77"/>
            <a:ext cx="7937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20" dirty="0">
                <a:solidFill>
                  <a:srgbClr val="F9F9F9"/>
                </a:solidFill>
                <a:latin typeface="Microsoft Sans Serif"/>
                <a:cs typeface="Microsoft Sans Serif"/>
              </a:rPr>
              <a:t>Цель</a:t>
            </a:r>
            <a:r>
              <a:rPr sz="1000" spc="-3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работы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819"/>
            <a:ext cx="5760085" cy="5080"/>
            <a:chOff x="0" y="358819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53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819"/>
              <a:ext cx="1080135" cy="5080"/>
            </a:xfrm>
            <a:custGeom>
              <a:avLst/>
              <a:gdLst/>
              <a:ahLst/>
              <a:cxnLst/>
              <a:rect l="l" t="t" r="r" b="b"/>
              <a:pathLst>
                <a:path w="1080135" h="5079">
                  <a:moveTo>
                    <a:pt x="0" y="5060"/>
                  </a:moveTo>
                  <a:lnTo>
                    <a:pt x="0" y="0"/>
                  </a:lnTo>
                  <a:lnTo>
                    <a:pt x="1080013" y="0"/>
                  </a:lnTo>
                  <a:lnTo>
                    <a:pt x="10800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1591153"/>
            <a:ext cx="4150360" cy="1545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900" dirty="0"/>
              <a:t>Получить основные навыки по настройке VLAN на коммутаторах сети. </a:t>
            </a:r>
            <a:endParaRPr sz="9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82877"/>
            <a:ext cx="52197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Задание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473608" y="643931"/>
            <a:ext cx="4937125" cy="24816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" marR="5080">
              <a:lnSpc>
                <a:spcPct val="144300"/>
              </a:lnSpc>
              <a:spcBef>
                <a:spcPts val="95"/>
              </a:spcBef>
              <a:tabLst>
                <a:tab pos="163195" algn="l"/>
              </a:tabLst>
            </a:pPr>
            <a:r>
              <a:rPr lang="ru-RU" dirty="0"/>
              <a:t>1. На коммутаторах сети настроить </a:t>
            </a:r>
            <a:r>
              <a:rPr lang="ru-RU" dirty="0" err="1"/>
              <a:t>Trunk</a:t>
            </a:r>
            <a:r>
              <a:rPr lang="ru-RU" dirty="0"/>
              <a:t>-порты на соответствующих интерфейсах (см. табл. 3.2 из раздела 3.3), связывающих коммутаторы между</a:t>
            </a:r>
          </a:p>
          <a:p>
            <a:pPr marL="20955" marR="5080">
              <a:lnSpc>
                <a:spcPct val="144300"/>
              </a:lnSpc>
              <a:spcBef>
                <a:spcPts val="95"/>
              </a:spcBef>
              <a:tabLst>
                <a:tab pos="163195" algn="l"/>
              </a:tabLst>
            </a:pPr>
            <a:r>
              <a:rPr lang="ru-RU" dirty="0"/>
              <a:t>собой.</a:t>
            </a:r>
          </a:p>
          <a:p>
            <a:pPr marL="20955" marR="5080">
              <a:lnSpc>
                <a:spcPct val="144300"/>
              </a:lnSpc>
              <a:spcBef>
                <a:spcPts val="95"/>
              </a:spcBef>
              <a:tabLst>
                <a:tab pos="163195" algn="l"/>
              </a:tabLst>
            </a:pPr>
            <a:r>
              <a:rPr lang="ru-RU" dirty="0"/>
              <a:t>2. Коммутатор msk-donskaya-sw-1 настроить как VTP-сервер и прописать на</a:t>
            </a:r>
          </a:p>
          <a:p>
            <a:pPr marL="20955" marR="5080">
              <a:lnSpc>
                <a:spcPct val="144300"/>
              </a:lnSpc>
              <a:spcBef>
                <a:spcPts val="95"/>
              </a:spcBef>
              <a:tabLst>
                <a:tab pos="163195" algn="l"/>
              </a:tabLst>
            </a:pPr>
            <a:r>
              <a:rPr lang="ru-RU" dirty="0"/>
              <a:t>нём номера и названия VLAN согласно табл. 3.1 из раздела 3.3.</a:t>
            </a:r>
          </a:p>
          <a:p>
            <a:pPr marL="20955" marR="5080">
              <a:lnSpc>
                <a:spcPct val="144300"/>
              </a:lnSpc>
              <a:spcBef>
                <a:spcPts val="95"/>
              </a:spcBef>
              <a:tabLst>
                <a:tab pos="163195" algn="l"/>
              </a:tabLst>
            </a:pPr>
            <a:r>
              <a:rPr lang="ru-RU" dirty="0"/>
              <a:t>3. Коммутаторы msk-donskaya-sw-2 — msk-donskaya-sw-4, mskpavlovskaya-sw-1 настроить как VTP-клиенты, на интерфейсах указать</a:t>
            </a:r>
          </a:p>
          <a:p>
            <a:pPr marL="20955" marR="5080">
              <a:lnSpc>
                <a:spcPct val="144300"/>
              </a:lnSpc>
              <a:spcBef>
                <a:spcPts val="95"/>
              </a:spcBef>
              <a:tabLst>
                <a:tab pos="163195" algn="l"/>
              </a:tabLst>
            </a:pPr>
            <a:r>
              <a:rPr lang="ru-RU" dirty="0"/>
              <a:t>принадлежность к соответствующему VLAN (см. табл. 3.3 из раздела 3.3).</a:t>
            </a:r>
          </a:p>
          <a:p>
            <a:pPr marL="20955" marR="5080">
              <a:lnSpc>
                <a:spcPct val="144300"/>
              </a:lnSpc>
              <a:spcBef>
                <a:spcPts val="95"/>
              </a:spcBef>
              <a:tabLst>
                <a:tab pos="163195" algn="l"/>
              </a:tabLst>
            </a:pPr>
            <a:r>
              <a:rPr lang="ru-RU" dirty="0"/>
              <a:t>4. На серверах прописать IP-адреса, как указано в табл. 3.2 из раздела 3.3.</a:t>
            </a:r>
          </a:p>
          <a:p>
            <a:pPr marL="20955" marR="5080">
              <a:lnSpc>
                <a:spcPct val="144300"/>
              </a:lnSpc>
              <a:spcBef>
                <a:spcPts val="95"/>
              </a:spcBef>
              <a:tabLst>
                <a:tab pos="163195" algn="l"/>
              </a:tabLst>
            </a:pPr>
            <a:r>
              <a:rPr lang="ru-RU" dirty="0"/>
              <a:t>5. На оконечных устройствах указать соответствующий адрес шлюза и прописать статические IP-адреса из диапазона соответствующей сети, следуя</a:t>
            </a:r>
          </a:p>
          <a:p>
            <a:pPr marL="20955" marR="5080">
              <a:lnSpc>
                <a:spcPct val="144300"/>
              </a:lnSpc>
              <a:spcBef>
                <a:spcPts val="95"/>
              </a:spcBef>
              <a:tabLst>
                <a:tab pos="163195" algn="l"/>
              </a:tabLst>
            </a:pPr>
            <a:r>
              <a:rPr lang="ru-RU" dirty="0"/>
              <a:t>регламенту выделения </a:t>
            </a:r>
            <a:r>
              <a:rPr lang="ru-RU" dirty="0" err="1"/>
              <a:t>ip</a:t>
            </a:r>
            <a:r>
              <a:rPr lang="ru-RU" dirty="0"/>
              <a:t>-адресов (см. табл. 3.4 из раздела 3.3).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819"/>
            <a:ext cx="5760085" cy="5080"/>
            <a:chOff x="0" y="358819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53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819"/>
              <a:ext cx="1440180" cy="5080"/>
            </a:xfrm>
            <a:custGeom>
              <a:avLst/>
              <a:gdLst/>
              <a:ahLst/>
              <a:cxnLst/>
              <a:rect l="l" t="t" r="r" b="b"/>
              <a:pathLst>
                <a:path w="1440180" h="5079">
                  <a:moveTo>
                    <a:pt x="0" y="5060"/>
                  </a:moveTo>
                  <a:lnTo>
                    <a:pt x="0" y="0"/>
                  </a:lnTo>
                  <a:lnTo>
                    <a:pt x="1440018" y="0"/>
                  </a:lnTo>
                  <a:lnTo>
                    <a:pt x="144001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82877"/>
            <a:ext cx="2155825" cy="179070"/>
          </a:xfrm>
        </p:spPr>
        <p:txBody>
          <a:bodyPr vert="horz" wrap="square" lIns="0" tIns="0" rIns="0" bIns="0" rtlCol="0">
            <a:normAutofit/>
          </a:bodyPr>
          <a:lstStyle/>
          <a:p>
            <a:pPr marL="12700">
              <a:spcBef>
                <a:spcPts val="105"/>
              </a:spcBef>
            </a:pPr>
            <a:r>
              <a:rPr lang="ru-RU" b="0" i="0">
                <a:latin typeface="Microsoft Sans Serif"/>
                <a:ea typeface="+mj-ea"/>
                <a:cs typeface="Microsoft Sans Serif"/>
              </a:rPr>
              <a:t>Выполнение</a:t>
            </a:r>
            <a:r>
              <a:rPr lang="ru-RU" b="0" i="0" spc="155">
                <a:latin typeface="Microsoft Sans Serif"/>
                <a:ea typeface="+mj-ea"/>
                <a:cs typeface="Microsoft Sans Serif"/>
              </a:rPr>
              <a:t> </a:t>
            </a:r>
            <a:r>
              <a:rPr lang="ru-RU" b="0" i="0">
                <a:latin typeface="Microsoft Sans Serif"/>
                <a:ea typeface="+mj-ea"/>
                <a:cs typeface="Microsoft Sans Serif"/>
              </a:rPr>
              <a:t>лабораторной</a:t>
            </a:r>
            <a:r>
              <a:rPr lang="ru-RU" b="0" i="0" spc="160">
                <a:latin typeface="Microsoft Sans Serif"/>
                <a:ea typeface="+mj-ea"/>
                <a:cs typeface="Microsoft Sans Serif"/>
              </a:rPr>
              <a:t> </a:t>
            </a:r>
            <a:r>
              <a:rPr lang="ru-RU" b="0" i="0" spc="-10">
                <a:latin typeface="Microsoft Sans Serif"/>
                <a:ea typeface="+mj-ea"/>
                <a:cs typeface="Microsoft Sans Serif"/>
              </a:rPr>
              <a:t>работы</a:t>
            </a:r>
          </a:p>
        </p:txBody>
      </p:sp>
      <p:pic>
        <p:nvPicPr>
          <p:cNvPr id="4" name="Рисунок 3" descr="Изображение выглядит как текст, диаграмма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548645C-686B-7123-ED46-0890753225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32" y="631825"/>
            <a:ext cx="3637135" cy="236594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77"/>
            <a:ext cx="21558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Выполнение</a:t>
            </a:r>
            <a:r>
              <a:rPr sz="1000" spc="15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лабораторной</a:t>
            </a:r>
            <a:r>
              <a:rPr sz="1000" spc="16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работы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819"/>
            <a:ext cx="5760085" cy="5080"/>
            <a:chOff x="0" y="358819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53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819"/>
              <a:ext cx="2160270" cy="5080"/>
            </a:xfrm>
            <a:custGeom>
              <a:avLst/>
              <a:gdLst/>
              <a:ahLst/>
              <a:cxnLst/>
              <a:rect l="l" t="t" r="r" b="b"/>
              <a:pathLst>
                <a:path w="2160270" h="5079">
                  <a:moveTo>
                    <a:pt x="0" y="5060"/>
                  </a:moveTo>
                  <a:lnTo>
                    <a:pt x="0" y="0"/>
                  </a:lnTo>
                  <a:lnTo>
                    <a:pt x="2160027" y="0"/>
                  </a:lnTo>
                  <a:lnTo>
                    <a:pt x="216002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Рисунок 9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CFC70A-A9EF-8D4D-DAF8-634E93FDD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12" y="931766"/>
            <a:ext cx="4839375" cy="138131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22631" y="82877"/>
            <a:ext cx="2155825" cy="17907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marL="12700">
              <a:spcBef>
                <a:spcPts val="95"/>
              </a:spcBef>
            </a:pPr>
            <a:r>
              <a:rPr lang="en-US" sz="1000" b="0" i="0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Рис.</a:t>
            </a:r>
            <a:r>
              <a:rPr lang="en-US" sz="1000" b="0" i="0" spc="-25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 </a:t>
            </a:r>
            <a:r>
              <a:rPr lang="en-US" sz="1000" b="0" i="0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2:</a:t>
            </a:r>
            <a:r>
              <a:rPr lang="en-US" sz="1000" b="0" i="0" spc="-5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 </a:t>
            </a:r>
            <a:r>
              <a:rPr lang="en-US" sz="1000" b="0" i="0" spc="-20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Схема</a:t>
            </a:r>
            <a:r>
              <a:rPr lang="en-US" sz="1000" b="0" i="0" spc="-45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 </a:t>
            </a:r>
            <a:r>
              <a:rPr lang="en-US" sz="1000" b="0" i="0" spc="-25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VLAN</a:t>
            </a:r>
            <a:r>
              <a:rPr lang="en-US" sz="1000" b="0" i="0" spc="-40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 </a:t>
            </a:r>
            <a:r>
              <a:rPr lang="en-US" sz="1000" b="0" i="0" spc="-10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сети</a:t>
            </a:r>
            <a:r>
              <a:rPr lang="en-US" sz="1000" b="0" i="0" spc="-50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 </a:t>
            </a:r>
            <a:r>
              <a:rPr lang="en-US" sz="1000" b="0" i="0" spc="-25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(Layer</a:t>
            </a:r>
            <a:r>
              <a:rPr lang="en-US" sz="1000" b="0" i="0" spc="-40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 </a:t>
            </a:r>
            <a:r>
              <a:rPr lang="en-US" sz="1000" b="0" i="0" spc="-25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2)</a:t>
            </a:r>
            <a:endParaRPr lang="en-US" sz="1000" b="0" i="0">
              <a:solidFill>
                <a:srgbClr val="F9F9F9"/>
              </a:solidFill>
              <a:latin typeface="Microsoft Sans Serif"/>
              <a:ea typeface="+mj-ea"/>
              <a:cs typeface="Microsoft Sans Serif"/>
            </a:endParaRPr>
          </a:p>
        </p:txBody>
      </p:sp>
      <p:pic>
        <p:nvPicPr>
          <p:cNvPr id="4" name="Рисунок 3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8B19A5C-DCA7-0F72-2149-8ACDA7E71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90" y="1610686"/>
            <a:ext cx="2508123" cy="412859"/>
          </a:xfrm>
          <a:prstGeom prst="rect">
            <a:avLst/>
          </a:prstGeom>
          <a:noFill/>
        </p:spPr>
      </p:pic>
      <p:sp>
        <p:nvSpPr>
          <p:cNvPr id="2" name="object 2"/>
          <p:cNvSpPr txBox="1"/>
          <p:nvPr/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>
              <a:spcBef>
                <a:spcPts val="105"/>
              </a:spcBef>
            </a:pPr>
            <a:r>
              <a:rPr lang="en-US" sz="900" b="0" i="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Выполнение</a:t>
            </a:r>
            <a:r>
              <a:rPr lang="en-US" sz="900" b="0" i="0" spc="155" dirty="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 </a:t>
            </a:r>
            <a:r>
              <a:rPr lang="en-US" sz="900" b="0" i="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лабораторной</a:t>
            </a:r>
            <a:r>
              <a:rPr lang="en-US" sz="900" b="0" i="0" spc="160" dirty="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 </a:t>
            </a:r>
            <a:r>
              <a:rPr lang="en-US" sz="900" b="0" i="0" spc="-1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работы</a:t>
            </a:r>
            <a:endParaRPr lang="en-US" sz="900" b="0" i="0" dirty="0">
              <a:solidFill>
                <a:srgbClr val="22373A"/>
              </a:solidFill>
              <a:latin typeface="Tahoma"/>
              <a:ea typeface="+mn-e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77"/>
            <a:ext cx="21558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Выполнение</a:t>
            </a:r>
            <a:r>
              <a:rPr sz="1000" spc="15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лабораторной</a:t>
            </a:r>
            <a:r>
              <a:rPr sz="1000" spc="16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работы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819"/>
            <a:ext cx="5760085" cy="5080"/>
            <a:chOff x="0" y="358819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53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819"/>
              <a:ext cx="2880360" cy="5080"/>
            </a:xfrm>
            <a:custGeom>
              <a:avLst/>
              <a:gdLst/>
              <a:ahLst/>
              <a:cxnLst/>
              <a:rect l="l" t="t" r="r" b="b"/>
              <a:pathLst>
                <a:path w="2880360" h="5079">
                  <a:moveTo>
                    <a:pt x="0" y="5060"/>
                  </a:moveTo>
                  <a:lnTo>
                    <a:pt x="0" y="0"/>
                  </a:lnTo>
                  <a:lnTo>
                    <a:pt x="2880037" y="0"/>
                  </a:lnTo>
                  <a:lnTo>
                    <a:pt x="28800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01647" y="2497076"/>
            <a:ext cx="215709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Рис.</a:t>
            </a:r>
            <a:r>
              <a:rPr sz="8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3: </a:t>
            </a:r>
            <a:r>
              <a:rPr sz="850" spc="-20" dirty="0">
                <a:solidFill>
                  <a:srgbClr val="22373A"/>
                </a:solidFill>
                <a:latin typeface="Tahoma"/>
                <a:cs typeface="Tahoma"/>
              </a:rPr>
              <a:t>Схема</a:t>
            </a:r>
            <a:r>
              <a:rPr sz="850" spc="-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22373A"/>
                </a:solidFill>
                <a:latin typeface="Tahoma"/>
                <a:cs typeface="Tahoma"/>
              </a:rPr>
              <a:t>маршрутизации</a:t>
            </a:r>
            <a:r>
              <a:rPr sz="850" spc="-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10" dirty="0">
                <a:solidFill>
                  <a:srgbClr val="22373A"/>
                </a:solidFill>
                <a:latin typeface="Tahoma"/>
                <a:cs typeface="Tahoma"/>
              </a:rPr>
              <a:t>сети</a:t>
            </a:r>
            <a:r>
              <a:rPr sz="850" spc="-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(Layer</a:t>
            </a:r>
            <a:r>
              <a:rPr sz="85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3)</a:t>
            </a:r>
            <a:endParaRPr sz="850">
              <a:latin typeface="Tahoma"/>
              <a:cs typeface="Tahoma"/>
            </a:endParaRPr>
          </a:p>
        </p:txBody>
      </p:sp>
      <p:pic>
        <p:nvPicPr>
          <p:cNvPr id="9" name="Рисунок 8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D0DE32B-8465-5FFC-E60B-3DC92B755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12" y="360186"/>
            <a:ext cx="5020376" cy="252447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77"/>
            <a:ext cx="21558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Выполнение</a:t>
            </a:r>
            <a:r>
              <a:rPr sz="1000" spc="15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лабораторной</a:t>
            </a:r>
            <a:r>
              <a:rPr sz="1000" spc="16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работы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819"/>
            <a:ext cx="5760085" cy="5080"/>
            <a:chOff x="0" y="358819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53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819"/>
              <a:ext cx="3240405" cy="5080"/>
            </a:xfrm>
            <a:custGeom>
              <a:avLst/>
              <a:gdLst/>
              <a:ahLst/>
              <a:cxnLst/>
              <a:rect l="l" t="t" r="r" b="b"/>
              <a:pathLst>
                <a:path w="3240405" h="5079">
                  <a:moveTo>
                    <a:pt x="0" y="5060"/>
                  </a:moveTo>
                  <a:lnTo>
                    <a:pt x="0" y="0"/>
                  </a:lnTo>
                  <a:lnTo>
                    <a:pt x="3240041" y="0"/>
                  </a:lnTo>
                  <a:lnTo>
                    <a:pt x="32400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98853" y="486247"/>
            <a:ext cx="196278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Таблица</a:t>
            </a:r>
            <a:r>
              <a:rPr sz="800" spc="1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2:</a:t>
            </a:r>
            <a:r>
              <a:rPr sz="800" spc="1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850" spc="-20" dirty="0">
                <a:solidFill>
                  <a:srgbClr val="22373A"/>
                </a:solidFill>
                <a:latin typeface="Tahoma"/>
                <a:cs typeface="Tahoma"/>
              </a:rPr>
              <a:t>Таблица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90" dirty="0">
                <a:solidFill>
                  <a:srgbClr val="22373A"/>
                </a:solidFill>
                <a:latin typeface="Tahoma"/>
                <a:cs typeface="Tahoma"/>
              </a:rPr>
              <a:t>IP.</a:t>
            </a:r>
            <a:r>
              <a:rPr sz="85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40" dirty="0">
                <a:solidFill>
                  <a:srgbClr val="22373A"/>
                </a:solidFill>
                <a:latin typeface="Tahoma"/>
                <a:cs typeface="Tahoma"/>
              </a:rPr>
              <a:t>Сеть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50" dirty="0">
                <a:solidFill>
                  <a:srgbClr val="22373A"/>
                </a:solidFill>
                <a:latin typeface="Tahoma"/>
                <a:cs typeface="Tahoma"/>
              </a:rPr>
              <a:t>10.128.0.0/16</a:t>
            </a:r>
            <a:endParaRPr sz="850">
              <a:latin typeface="Tahoma"/>
              <a:cs typeface="Tahoma"/>
            </a:endParaRPr>
          </a:p>
        </p:txBody>
      </p:sp>
      <p:pic>
        <p:nvPicPr>
          <p:cNvPr id="10" name="Рисунок 9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242A38E-9572-AD82-6A7A-C1624AE38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" y="438546"/>
            <a:ext cx="4915862" cy="260634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77"/>
            <a:ext cx="21558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Выполнение</a:t>
            </a:r>
            <a:r>
              <a:rPr sz="1000" spc="15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лабораторной</a:t>
            </a:r>
            <a:r>
              <a:rPr sz="1000" spc="16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работы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819"/>
            <a:ext cx="5760085" cy="5080"/>
            <a:chOff x="0" y="358819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53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819"/>
              <a:ext cx="4320540" cy="5080"/>
            </a:xfrm>
            <a:custGeom>
              <a:avLst/>
              <a:gdLst/>
              <a:ahLst/>
              <a:cxnLst/>
              <a:rect l="l" t="t" r="r" b="b"/>
              <a:pathLst>
                <a:path w="4320540" h="5079">
                  <a:moveTo>
                    <a:pt x="0" y="5060"/>
                  </a:moveTo>
                  <a:lnTo>
                    <a:pt x="0" y="0"/>
                  </a:lnTo>
                  <a:lnTo>
                    <a:pt x="4320055" y="0"/>
                  </a:lnTo>
                  <a:lnTo>
                    <a:pt x="4320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99882" y="2497076"/>
            <a:ext cx="2160270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Рис. 4: </a:t>
            </a:r>
            <a:r>
              <a:rPr sz="850" spc="-20" dirty="0">
                <a:solidFill>
                  <a:srgbClr val="22373A"/>
                </a:solidFill>
                <a:latin typeface="Tahoma"/>
                <a:cs typeface="Tahoma"/>
              </a:rPr>
              <a:t>Схема</a:t>
            </a:r>
            <a:r>
              <a:rPr sz="85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22373A"/>
                </a:solidFill>
                <a:latin typeface="Tahoma"/>
                <a:cs typeface="Tahoma"/>
              </a:rPr>
              <a:t>маршрутизации</a:t>
            </a:r>
            <a:r>
              <a:rPr sz="85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10" dirty="0">
                <a:solidFill>
                  <a:srgbClr val="22373A"/>
                </a:solidFill>
                <a:latin typeface="Tahoma"/>
                <a:cs typeface="Tahoma"/>
              </a:rPr>
              <a:t>сети</a:t>
            </a:r>
            <a:r>
              <a:rPr sz="85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(Layer</a:t>
            </a:r>
            <a:r>
              <a:rPr sz="85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3)</a:t>
            </a:r>
            <a:endParaRPr sz="85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65"/>
              </a:spcBef>
            </a:pPr>
            <a:r>
              <a:rPr spc="-10" dirty="0"/>
              <a:t>12/16</a:t>
            </a:r>
          </a:p>
        </p:txBody>
      </p:sp>
      <p:pic>
        <p:nvPicPr>
          <p:cNvPr id="10" name="Рисунок 9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46491A1-FA5F-E915-8F5D-B2C386DB3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96" y="531660"/>
            <a:ext cx="5249008" cy="218152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77"/>
            <a:ext cx="21558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Выполнение</a:t>
            </a:r>
            <a:r>
              <a:rPr sz="1000" spc="15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лабораторной</a:t>
            </a:r>
            <a:r>
              <a:rPr sz="1000" spc="16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работы</a:t>
            </a:r>
            <a:endParaRPr sz="1000" dirty="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819"/>
            <a:ext cx="5760085" cy="5080"/>
            <a:chOff x="0" y="358819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53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819"/>
              <a:ext cx="4680585" cy="5080"/>
            </a:xfrm>
            <a:custGeom>
              <a:avLst/>
              <a:gdLst/>
              <a:ahLst/>
              <a:cxnLst/>
              <a:rect l="l" t="t" r="r" b="b"/>
              <a:pathLst>
                <a:path w="4680585" h="5079">
                  <a:moveTo>
                    <a:pt x="0" y="5060"/>
                  </a:moveTo>
                  <a:lnTo>
                    <a:pt x="0" y="0"/>
                  </a:lnTo>
                  <a:lnTo>
                    <a:pt x="4680059" y="0"/>
                  </a:lnTo>
                  <a:lnTo>
                    <a:pt x="468005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01533" y="2497076"/>
            <a:ext cx="215709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Рис.</a:t>
            </a:r>
            <a:r>
              <a:rPr sz="8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5:</a:t>
            </a:r>
            <a:r>
              <a:rPr sz="800" spc="-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850" spc="-20" dirty="0">
                <a:solidFill>
                  <a:srgbClr val="22373A"/>
                </a:solidFill>
                <a:latin typeface="Tahoma"/>
                <a:cs typeface="Tahoma"/>
              </a:rPr>
              <a:t>Схема</a:t>
            </a:r>
            <a:r>
              <a:rPr sz="850" spc="-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22373A"/>
                </a:solidFill>
                <a:latin typeface="Tahoma"/>
                <a:cs typeface="Tahoma"/>
              </a:rPr>
              <a:t>маршрутизации</a:t>
            </a:r>
            <a:r>
              <a:rPr sz="850" spc="-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10" dirty="0">
                <a:solidFill>
                  <a:srgbClr val="22373A"/>
                </a:solidFill>
                <a:latin typeface="Tahoma"/>
                <a:cs typeface="Tahoma"/>
              </a:rPr>
              <a:t>сети</a:t>
            </a:r>
            <a:r>
              <a:rPr sz="850" spc="-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(Layer</a:t>
            </a:r>
            <a:r>
              <a:rPr sz="85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3)</a:t>
            </a:r>
            <a:endParaRPr sz="85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65"/>
              </a:spcBef>
            </a:pPr>
            <a:r>
              <a:rPr spc="-10" dirty="0"/>
              <a:t>13/16</a:t>
            </a:r>
          </a:p>
        </p:txBody>
      </p:sp>
      <p:pic>
        <p:nvPicPr>
          <p:cNvPr id="10" name="Рисунок 9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7CD9ABA-810E-9BF0-1CCF-5C6876FD6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8778"/>
            <a:ext cx="5765800" cy="208729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495C4F4-AEA1-EB04-DEF0-D2DA47226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31" y="82877"/>
            <a:ext cx="2155825" cy="307777"/>
          </a:xfrm>
        </p:spPr>
        <p:txBody>
          <a:bodyPr/>
          <a:lstStyle/>
          <a:p>
            <a:r>
              <a:rPr lang="ru-RU" dirty="0"/>
              <a:t>Выполнение</a:t>
            </a:r>
            <a:r>
              <a:rPr lang="ru-RU" spc="155" dirty="0"/>
              <a:t> </a:t>
            </a:r>
            <a:r>
              <a:rPr lang="ru-RU" dirty="0"/>
              <a:t>лабораторной</a:t>
            </a:r>
            <a:r>
              <a:rPr lang="ru-RU" spc="160" dirty="0"/>
              <a:t> </a:t>
            </a:r>
            <a:r>
              <a:rPr lang="ru-RU" spc="-10" dirty="0"/>
              <a:t>работы</a:t>
            </a:r>
            <a:br>
              <a:rPr lang="ru-RU" dirty="0"/>
            </a:br>
            <a:endParaRPr lang="en-US" dirty="0"/>
          </a:p>
        </p:txBody>
      </p:sp>
      <p:pic>
        <p:nvPicPr>
          <p:cNvPr id="4" name="Объект 3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53557BE-6AF6-AA1E-D801-514E24537574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21" y="860425"/>
            <a:ext cx="3511157" cy="1824321"/>
          </a:xfrm>
        </p:spPr>
      </p:pic>
    </p:spTree>
    <p:extLst>
      <p:ext uri="{BB962C8B-B14F-4D97-AF65-F5344CB8AC3E}">
        <p14:creationId xmlns:p14="http://schemas.microsoft.com/office/powerpoint/2010/main" val="2982188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Выводы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819"/>
            <a:ext cx="5760085" cy="5080"/>
            <a:chOff x="0" y="358819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53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1435471"/>
            <a:ext cx="4368165" cy="59715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5"/>
              </a:spcBef>
            </a:pP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В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процессе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выполнения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лабораторной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работы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я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lang="ru-RU" sz="900" spc="50" dirty="0">
                <a:solidFill>
                  <a:srgbClr val="22373A"/>
                </a:solidFill>
                <a:latin typeface="Tahoma"/>
                <a:cs typeface="Tahoma"/>
              </a:rPr>
              <a:t>п</a:t>
            </a:r>
            <a:r>
              <a:rPr lang="ru-RU" sz="900" dirty="0"/>
              <a:t>олучил основные навыки по настройке VLAN на коммутаторах сети. </a:t>
            </a:r>
            <a:endParaRPr lang="ru-RU" sz="900" dirty="0">
              <a:latin typeface="Tahoma"/>
              <a:cs typeface="Tahoma"/>
            </a:endParaRPr>
          </a:p>
          <a:p>
            <a:pPr marL="12700" marR="5080">
              <a:lnSpc>
                <a:spcPct val="144300"/>
              </a:lnSpc>
              <a:spcBef>
                <a:spcPts val="95"/>
              </a:spcBef>
            </a:pPr>
            <a:endParaRPr sz="9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25109" y="2992643"/>
            <a:ext cx="247015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650" spc="-20" dirty="0">
                <a:solidFill>
                  <a:srgbClr val="22373A"/>
                </a:solidFill>
                <a:latin typeface="Tahoma"/>
                <a:cs typeface="Tahoma"/>
              </a:rPr>
              <a:t>16/16</a:t>
            </a:r>
            <a:endParaRPr sz="65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Фиолетовый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254</Words>
  <Application>Microsoft Office PowerPoint</Application>
  <PresentationFormat>Произвольный</PresentationFormat>
  <Paragraphs>36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Microsoft Sans Serif</vt:lpstr>
      <vt:lpstr>Tahoma</vt:lpstr>
      <vt:lpstr>Office Theme</vt:lpstr>
      <vt:lpstr>Лабораторная работа №5</vt:lpstr>
      <vt:lpstr>Презентация PowerPoint</vt:lpstr>
      <vt:lpstr>Задание</vt:lpstr>
      <vt:lpstr>Выполнение лабораторной работы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Выполнение лабораторной работы 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№3 - Планирование локальной сети организации</dc:title>
  <dc:creator>Беличева Д. М.</dc:creator>
  <cp:lastModifiedBy>Никита Сахно</cp:lastModifiedBy>
  <cp:revision>2</cp:revision>
  <dcterms:created xsi:type="dcterms:W3CDTF">2026-02-25T19:15:31Z</dcterms:created>
  <dcterms:modified xsi:type="dcterms:W3CDTF">2026-03-14T08:50:11Z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2024-03-02T00:00:00Z</vt:filetime>
  </property>
  <property fmtid="{D5CDD505-2E9C-101B-9397-08002B2CF9AE}" pid="3" name="Creator">
    <vt:lpwstr>LaTeX via pandoc</vt:lpwstr>
  </property>
  <property fmtid="{D5CDD505-2E9C-101B-9397-08002B2CF9AE}" pid="4" name="Producer">
    <vt:lpwstr>xdvipdfmx (20220710)</vt:lpwstr>
  </property>
  <property fmtid="{D5CDD505-2E9C-101B-9397-08002B2CF9AE}" pid="5" name="LastSaved">
    <vt:filetime>2024-03-02T00:00:00Z</vt:filetime>
  </property>
</Properties>
</file>